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ohdsahil00736/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7639468" cy="616674"/>
          </a:xfrm>
        </p:spPr>
        <p:txBody>
          <a:bodyPr>
            <a:normAutofit/>
          </a:bodyPr>
          <a:lstStyle/>
          <a:p>
            <a:r>
              <a:rPr lang="en-GB" sz="2000" dirty="0"/>
              <a:t>Project Title - </a:t>
            </a:r>
            <a:r>
              <a:rPr lang="en-IN" sz="20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08659" y="4576469"/>
            <a:ext cx="5764236" cy="369332"/>
          </a:xfrm>
          <a:prstGeom prst="rect">
            <a:avLst/>
          </a:prstGeom>
          <a:noFill/>
        </p:spPr>
        <p:txBody>
          <a:bodyPr wrap="square" rtlCol="0">
            <a:spAutoFit/>
          </a:bodyPr>
          <a:lstStyle/>
          <a:p>
            <a:r>
              <a:rPr lang="en-US" b="1" dirty="0"/>
              <a:t>AICTE STU ID : STU69b7b6fc933501773647612</a:t>
            </a:r>
          </a:p>
        </p:txBody>
      </p:sp>
      <p:sp>
        <p:nvSpPr>
          <p:cNvPr id="9" name="Text Placeholder 8">
            <a:extLst>
              <a:ext uri="{FF2B5EF4-FFF2-40B4-BE49-F238E27FC236}">
                <a16:creationId xmlns:a16="http://schemas.microsoft.com/office/drawing/2014/main" id="{A5B33D06-C3B1-7705-4BD7-2573CBE87C30}"/>
              </a:ext>
            </a:extLst>
          </p:cNvPr>
          <p:cNvSpPr>
            <a:spLocks noGrp="1"/>
          </p:cNvSpPr>
          <p:nvPr>
            <p:ph type="body" sz="quarter" idx="11"/>
          </p:nvPr>
        </p:nvSpPr>
        <p:spPr>
          <a:xfrm>
            <a:off x="708659" y="3588198"/>
            <a:ext cx="6454141" cy="861497"/>
          </a:xfrm>
        </p:spPr>
        <p:txBody>
          <a:bodyPr>
            <a:normAutofit/>
          </a:bodyPr>
          <a:lstStyle/>
          <a:p>
            <a:r>
              <a:rPr lang="en-IN" sz="1600" dirty="0">
                <a:solidFill>
                  <a:schemeClr val="tx1">
                    <a:lumMod val="75000"/>
                    <a:lumOff val="25000"/>
                  </a:schemeClr>
                </a:solidFill>
                <a:latin typeface="+mn-lt"/>
                <a:cs typeface="Cascadia Code" panose="020B0609020000020004" pitchFamily="49" charset="0"/>
              </a:rPr>
              <a:t>Student Name – Mohammad Sahil</a:t>
            </a:r>
            <a:br>
              <a:rPr lang="en-IN" sz="1600" dirty="0">
                <a:solidFill>
                  <a:schemeClr val="tx1">
                    <a:lumMod val="75000"/>
                    <a:lumOff val="25000"/>
                  </a:schemeClr>
                </a:solidFill>
                <a:latin typeface="+mn-lt"/>
                <a:cs typeface="Cascadia Code" panose="020B0609020000020004" pitchFamily="49" charset="0"/>
              </a:rPr>
            </a:br>
            <a:r>
              <a:rPr lang="en-IN" sz="1600" dirty="0">
                <a:solidFill>
                  <a:schemeClr val="tx1">
                    <a:lumMod val="75000"/>
                    <a:lumOff val="25000"/>
                  </a:schemeClr>
                </a:solidFill>
                <a:latin typeface="+mn-lt"/>
                <a:cs typeface="Cascadia Code" panose="020B0609020000020004" pitchFamily="49" charset="0"/>
              </a:rPr>
              <a:t>College Name - </a:t>
            </a:r>
            <a:r>
              <a:rPr lang="en-IN" sz="1600" dirty="0" err="1">
                <a:solidFill>
                  <a:schemeClr val="tx1">
                    <a:lumMod val="75000"/>
                    <a:lumOff val="25000"/>
                  </a:schemeClr>
                </a:solidFill>
                <a:latin typeface="+mn-lt"/>
                <a:cs typeface="Cascadia Code" panose="020B0609020000020004" pitchFamily="49" charset="0"/>
              </a:rPr>
              <a:t>Rajkiya</a:t>
            </a:r>
            <a:r>
              <a:rPr lang="en-IN" sz="1600" dirty="0">
                <a:solidFill>
                  <a:schemeClr val="tx1">
                    <a:lumMod val="75000"/>
                    <a:lumOff val="25000"/>
                  </a:schemeClr>
                </a:solidFill>
                <a:latin typeface="+mn-lt"/>
                <a:cs typeface="Cascadia Code" panose="020B0609020000020004" pitchFamily="49" charset="0"/>
              </a:rPr>
              <a:t> Engineering College Azamgarh</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538032" y="46319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1" name="Text Placeholder 10">
            <a:extLst>
              <a:ext uri="{FF2B5EF4-FFF2-40B4-BE49-F238E27FC236}">
                <a16:creationId xmlns:a16="http://schemas.microsoft.com/office/drawing/2014/main" id="{12206011-0389-6F34-E5CB-F4554665438E}"/>
              </a:ext>
            </a:extLst>
          </p:cNvPr>
          <p:cNvSpPr>
            <a:spLocks noGrp="1"/>
          </p:cNvSpPr>
          <p:nvPr>
            <p:ph type="body" sz="quarter" idx="12"/>
          </p:nvPr>
        </p:nvSpPr>
        <p:spPr>
          <a:xfrm>
            <a:off x="538032" y="1467184"/>
            <a:ext cx="6352051" cy="4532563"/>
          </a:xfrm>
        </p:spPr>
        <p:txBody>
          <a:bodyPr>
            <a:noAutofit/>
          </a:bodyPr>
          <a:lstStyle/>
          <a:p>
            <a:pPr>
              <a:lnSpc>
                <a:spcPct val="150000"/>
              </a:lnSpc>
              <a:spcAft>
                <a:spcPts val="1400"/>
              </a:spcAft>
            </a:pPr>
            <a:r>
              <a:rPr lang="en-US" sz="1800" dirty="0">
                <a:solidFill>
                  <a:srgbClr val="222222"/>
                </a:solidFill>
              </a:rPr>
              <a:t>Farming outcomes change a lot from one season to the next — rainfall, temperature, soil conditions, resource use and market prices all shift with the season.</a:t>
            </a:r>
          </a:p>
          <a:p>
            <a:pPr>
              <a:spcAft>
                <a:spcPts val="1400"/>
              </a:spcAft>
            </a:pPr>
            <a:r>
              <a:rPr lang="en-US" sz="1800" dirty="0">
                <a:solidFill>
                  <a:srgbClr val="222222"/>
                </a:solidFill>
              </a:rPr>
              <a:t>But raw agricultural data alone doesn't clearly explain how performance changes across seasons, or what patterns lie behind those changes.</a:t>
            </a:r>
          </a:p>
          <a:p>
            <a:pPr>
              <a:spcAft>
                <a:spcPts val="1400"/>
              </a:spcAft>
            </a:pPr>
            <a:r>
              <a:rPr lang="en-US" sz="1800" dirty="0">
                <a:solidFill>
                  <a:srgbClr val="222222"/>
                </a:solidFill>
              </a:rPr>
              <a:t>This project analyzes real farm-level data across three seasons — Kharif, Rabi and Zaid — to uncover meaningful seasonal patterns, relationships and differences in yield, cost, profit and resource use</a:t>
            </a:r>
            <a:endParaRPr lang="en-IN" sz="1800"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710948" cy="4961924"/>
          </a:xfrm>
        </p:spPr>
        <p:txBody>
          <a:bodyPr>
            <a:noAutofit/>
          </a:bodyPr>
          <a:lstStyle/>
          <a:p>
            <a:pPr>
              <a:spcAft>
                <a:spcPts val="1600"/>
              </a:spcAft>
            </a:pPr>
            <a:r>
              <a:rPr lang="en-GB" sz="2000" dirty="0"/>
              <a:t>Project Description</a:t>
            </a:r>
            <a:br>
              <a:rPr lang="en-GB" sz="2000" dirty="0"/>
            </a:br>
            <a:br>
              <a:rPr lang="en-GB" sz="2000" dirty="0"/>
            </a:br>
            <a:r>
              <a:rPr lang="en-US" sz="2000" b="0" dirty="0">
                <a:solidFill>
                  <a:srgbClr val="222222"/>
                </a:solidFill>
                <a:latin typeface="Calibri"/>
              </a:rPr>
              <a:t>We analyzed 4,000 farm records spanning 8 states, 8 crops and 3 seasons — covering rainfall, soil health, resource usage, yield, cost, revenue and profit.</a:t>
            </a:r>
            <a:br>
              <a:rPr lang="en-US" sz="2000" b="0" dirty="0">
                <a:solidFill>
                  <a:srgbClr val="222222"/>
                </a:solidFill>
                <a:latin typeface="Calibri"/>
              </a:rPr>
            </a:br>
            <a:br>
              <a:rPr lang="en-US" sz="2000" b="0" dirty="0">
                <a:solidFill>
                  <a:srgbClr val="222222"/>
                </a:solidFill>
                <a:latin typeface="Calibri"/>
              </a:rPr>
            </a:br>
            <a:r>
              <a:rPr lang="en-US" sz="2000" b="0" dirty="0">
                <a:solidFill>
                  <a:srgbClr val="222222"/>
                </a:solidFill>
                <a:latin typeface="Calibri"/>
              </a:rPr>
              <a:t>The workflow: clean and prepare the data (season + crop specific handling of missing rainfall, soil moisture and yield readings), add performance metrics like profit margin and cost per </a:t>
            </a:r>
            <a:r>
              <a:rPr lang="en-US" sz="2000" b="0" dirty="0" err="1">
                <a:solidFill>
                  <a:srgbClr val="222222"/>
                </a:solidFill>
                <a:latin typeface="Calibri"/>
              </a:rPr>
              <a:t>tonne</a:t>
            </a:r>
            <a:r>
              <a:rPr lang="en-US" sz="2000" b="0" dirty="0">
                <a:solidFill>
                  <a:srgbClr val="222222"/>
                </a:solidFill>
                <a:latin typeface="Calibri"/>
              </a:rPr>
              <a:t>, then compare yield, cost, profit, resource use and risk across the three seasons.</a:t>
            </a:r>
            <a:br>
              <a:rPr lang="en-US" sz="2000" b="0" dirty="0">
                <a:solidFill>
                  <a:srgbClr val="222222"/>
                </a:solidFill>
                <a:latin typeface="Calibri"/>
              </a:rPr>
            </a:br>
            <a:br>
              <a:rPr lang="en-US" sz="2000" b="0" dirty="0">
                <a:solidFill>
                  <a:srgbClr val="222222"/>
                </a:solidFill>
                <a:latin typeface="Calibri"/>
              </a:rPr>
            </a:br>
            <a:r>
              <a:rPr lang="en-US" sz="2000" b="0" dirty="0">
                <a:solidFill>
                  <a:srgbClr val="222222"/>
                </a:solidFill>
                <a:latin typeface="Calibri"/>
              </a:rPr>
              <a:t>The findings are visualized through 9 charts and a summary dashboard, and turned into clear, evidence-based recommendations for seasonal agricultural planning.</a:t>
            </a:r>
            <a:br>
              <a:rPr lang="en-US" sz="2000" b="0" dirty="0">
                <a:solidFill>
                  <a:srgbClr val="222222"/>
                </a:solidFill>
                <a:latin typeface="Calibri"/>
              </a:rPr>
            </a:br>
            <a:br>
              <a:rPr lang="en-GB" sz="200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933019"/>
            <a:ext cx="7904481" cy="3990023"/>
          </a:xfrm>
        </p:spPr>
        <p:txBody>
          <a:bodyPr>
            <a:normAutofit fontScale="55000" lnSpcReduction="20000"/>
          </a:bodyPr>
          <a:lstStyle/>
          <a:p>
            <a:pPr algn="just">
              <a:lnSpc>
                <a:spcPct val="150000"/>
              </a:lnSpc>
              <a:spcAft>
                <a:spcPts val="1400"/>
              </a:spcAft>
            </a:pPr>
            <a:r>
              <a:rPr lang="en-US" sz="3600" dirty="0">
                <a:solidFill>
                  <a:srgbClr val="222222"/>
                </a:solidFill>
              </a:rPr>
              <a:t>Farmers and agronomists planning sowing, irrigation and fertilizer schedules season by season</a:t>
            </a:r>
            <a:endParaRPr lang="en-US" sz="6000" dirty="0"/>
          </a:p>
          <a:p>
            <a:pPr>
              <a:spcAft>
                <a:spcPts val="1400"/>
              </a:spcAft>
            </a:pPr>
            <a:r>
              <a:rPr lang="en-US" sz="3600" dirty="0">
                <a:solidFill>
                  <a:srgbClr val="222222"/>
                </a:solidFill>
              </a:rPr>
              <a:t>Agricultural departments and policymakers designing season-specific advisories</a:t>
            </a:r>
          </a:p>
          <a:p>
            <a:pPr>
              <a:spcAft>
                <a:spcPts val="1400"/>
              </a:spcAft>
            </a:pPr>
            <a:r>
              <a:rPr lang="en-US" sz="3600" dirty="0">
                <a:solidFill>
                  <a:srgbClr val="222222"/>
                </a:solidFill>
              </a:rPr>
              <a:t>Agri-input companies planning fertilizer and pesticide supply around seasonal demand</a:t>
            </a:r>
          </a:p>
          <a:p>
            <a:pPr>
              <a:spcAft>
                <a:spcPts val="1400"/>
              </a:spcAft>
            </a:pPr>
            <a:r>
              <a:rPr lang="en-US" sz="3600" dirty="0">
                <a:solidFill>
                  <a:srgbClr val="222222"/>
                </a:solidFill>
              </a:rPr>
              <a:t>Researchers and students studying seasonal trends in agricultural performance</a:t>
            </a:r>
          </a:p>
          <a:p>
            <a:pPr>
              <a:spcAft>
                <a:spcPts val="1400"/>
              </a:spcAft>
            </a:pPr>
            <a:r>
              <a:rPr lang="en-US" sz="3600" dirty="0">
                <a:solidFill>
                  <a:srgbClr val="222222"/>
                </a:solidFill>
              </a:rPr>
              <a:t>Agri-fintech and crop insurance providers assessing seasonal risk</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8" name="Text Placeholder 7">
            <a:extLst>
              <a:ext uri="{FF2B5EF4-FFF2-40B4-BE49-F238E27FC236}">
                <a16:creationId xmlns:a16="http://schemas.microsoft.com/office/drawing/2014/main" id="{B29BBAD8-4AF3-56B3-6961-73DF6B5A5000}"/>
              </a:ext>
            </a:extLst>
          </p:cNvPr>
          <p:cNvSpPr txBox="1">
            <a:spLocks noGrp="1"/>
          </p:cNvSpPr>
          <p:nvPr>
            <p:ph type="body" sz="quarter" idx="12"/>
          </p:nvPr>
        </p:nvSpPr>
        <p:spPr>
          <a:xfrm>
            <a:off x="1836821" y="1411705"/>
            <a:ext cx="7908758" cy="3527248"/>
          </a:xfrm>
          <a:prstGeom prst="rect">
            <a:avLst/>
          </a:prstGeom>
          <a:noFill/>
        </p:spPr>
        <p:txBody>
          <a:bodyPr wrap="square">
            <a:spAutoFit/>
          </a:bodyPr>
          <a:lstStyle/>
          <a:p>
            <a:pPr>
              <a:spcAft>
                <a:spcPts val="1200"/>
              </a:spcAft>
            </a:pPr>
            <a:r>
              <a:rPr lang="en-US" sz="1700" dirty="0">
                <a:solidFill>
                  <a:srgbClr val="222222"/>
                </a:solidFill>
              </a:rPr>
              <a:t>Python (Pandas, NumPy) — loading, cleaning and feature engineering</a:t>
            </a:r>
            <a:endParaRPr lang="en-IN" sz="1700" dirty="0">
              <a:solidFill>
                <a:srgbClr val="222222"/>
              </a:solidFill>
            </a:endParaRPr>
          </a:p>
          <a:p>
            <a:pPr>
              <a:spcAft>
                <a:spcPts val="1200"/>
              </a:spcAft>
            </a:pPr>
            <a:r>
              <a:rPr lang="en-IN" sz="1700" dirty="0">
                <a:solidFill>
                  <a:srgbClr val="222222"/>
                </a:solidFill>
              </a:rPr>
              <a:t>Matplotlib and Seaborn — visual analysis (9 charts + summary dashboard)</a:t>
            </a:r>
          </a:p>
          <a:p>
            <a:pPr>
              <a:spcAft>
                <a:spcPts val="1200"/>
              </a:spcAft>
            </a:pPr>
            <a:r>
              <a:rPr lang="en-IN" sz="1700" dirty="0">
                <a:solidFill>
                  <a:srgbClr val="222222"/>
                </a:solidFill>
              </a:rPr>
              <a:t>Jupyter Notebook — complete, documented, function-based analysis</a:t>
            </a:r>
          </a:p>
          <a:p>
            <a:pPr>
              <a:spcAft>
                <a:spcPts val="1200"/>
              </a:spcAft>
            </a:pPr>
            <a:r>
              <a:rPr lang="en-IN" sz="1700" dirty="0">
                <a:solidFill>
                  <a:srgbClr val="222222"/>
                </a:solidFill>
              </a:rPr>
              <a:t>IQR method — outlier detection on yield, profit and production values</a:t>
            </a:r>
          </a:p>
          <a:p>
            <a:pPr>
              <a:spcAft>
                <a:spcPts val="1200"/>
              </a:spcAft>
            </a:pPr>
            <a:r>
              <a:rPr lang="en-IN" sz="1700" dirty="0">
                <a:solidFill>
                  <a:srgbClr val="222222"/>
                </a:solidFill>
              </a:rPr>
              <a:t>Group-by based statistics — season-wise and state-wise performance comparison</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82900" y="18722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82900" y="1130890"/>
            <a:ext cx="4574962" cy="477520"/>
          </a:xfrm>
        </p:spPr>
        <p:txBody>
          <a:bodyPr vert="horz" lIns="91440" tIns="45720" rIns="91440" bIns="45720" rtlCol="0" anchor="t">
            <a:normAutofit/>
          </a:bodyPr>
          <a:lstStyle/>
          <a:p>
            <a:pPr marL="0" indent="0">
              <a:buNone/>
            </a:pPr>
            <a:r>
              <a:rPr lang="en-US" b="1" dirty="0"/>
              <a:t>Yield Varies Sharply Across Seasons</a:t>
            </a:r>
            <a:endParaRPr lang="en-IN" b="1" dirty="0"/>
          </a:p>
          <a:p>
            <a:pPr marL="0" indent="0">
              <a:buNone/>
            </a:pPr>
            <a:endParaRPr lang="en-IN" dirty="0"/>
          </a:p>
        </p:txBody>
      </p:sp>
      <p:sp>
        <p:nvSpPr>
          <p:cNvPr id="3" name="TextBox 2">
            <a:extLst>
              <a:ext uri="{FF2B5EF4-FFF2-40B4-BE49-F238E27FC236}">
                <a16:creationId xmlns:a16="http://schemas.microsoft.com/office/drawing/2014/main" id="{7EEA1348-8CF6-293E-6515-B80A9196896C}"/>
              </a:ext>
            </a:extLst>
          </p:cNvPr>
          <p:cNvSpPr txBox="1"/>
          <p:nvPr/>
        </p:nvSpPr>
        <p:spPr>
          <a:xfrm>
            <a:off x="523557" y="5968440"/>
            <a:ext cx="8300000" cy="600000"/>
          </a:xfrm>
          <a:prstGeom prst="rect">
            <a:avLst/>
          </a:prstGeom>
          <a:noFill/>
        </p:spPr>
        <p:txBody>
          <a:bodyPr wrap="square">
            <a:spAutoFit/>
          </a:bodyPr>
          <a:lstStyle/>
          <a:p>
            <a:pPr algn="ctr">
              <a:spcAft>
                <a:spcPts val="600"/>
              </a:spcAft>
            </a:pPr>
            <a:r>
              <a:rPr sz="1400" b="0" i="1" dirty="0">
                <a:solidFill>
                  <a:srgbClr val="444444"/>
                </a:solidFill>
                <a:latin typeface="Calibri"/>
              </a:rPr>
              <a:t>Kharif farms average the highest yield (5.63 t/ha), helped by monsoon rainfall and high humidity. Zaid — the hot, dry season — averages the lowest yield (4.64 t/ha).</a:t>
            </a:r>
          </a:p>
        </p:txBody>
      </p:sp>
      <p:pic>
        <p:nvPicPr>
          <p:cNvPr id="9" name="Picture 8">
            <a:extLst>
              <a:ext uri="{FF2B5EF4-FFF2-40B4-BE49-F238E27FC236}">
                <a16:creationId xmlns:a16="http://schemas.microsoft.com/office/drawing/2014/main" id="{4A6518FA-A404-33B7-7DE6-F3D3D2A85785}"/>
              </a:ext>
            </a:extLst>
          </p:cNvPr>
          <p:cNvPicPr>
            <a:picLocks noChangeAspect="1"/>
          </p:cNvPicPr>
          <p:nvPr/>
        </p:nvPicPr>
        <p:blipFill>
          <a:blip r:embed="rId3"/>
          <a:stretch>
            <a:fillRect/>
          </a:stretch>
        </p:blipFill>
        <p:spPr>
          <a:xfrm>
            <a:off x="793006" y="1760936"/>
            <a:ext cx="6056974" cy="386612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275371"/>
            <a:ext cx="6695390" cy="477520"/>
          </a:xfrm>
        </p:spPr>
        <p:txBody>
          <a:bodyPr>
            <a:normAutofit/>
          </a:bodyPr>
          <a:lstStyle/>
          <a:p>
            <a:pPr marL="0" indent="0">
              <a:buNone/>
            </a:pPr>
            <a:r>
              <a:rPr lang="en-US" b="1" dirty="0"/>
              <a:t>Environmental Conditions Shift Dramatically by Season</a:t>
            </a:r>
            <a:endParaRPr lang="en-IN" dirty="0"/>
          </a:p>
        </p:txBody>
      </p:sp>
      <p:sp>
        <p:nvSpPr>
          <p:cNvPr id="3" name="TextBox 2">
            <a:extLst>
              <a:ext uri="{FF2B5EF4-FFF2-40B4-BE49-F238E27FC236}">
                <a16:creationId xmlns:a16="http://schemas.microsoft.com/office/drawing/2014/main" id="{8EA096D9-531E-3B8C-41B1-4AD21D00E9EA}"/>
              </a:ext>
            </a:extLst>
          </p:cNvPr>
          <p:cNvSpPr txBox="1"/>
          <p:nvPr/>
        </p:nvSpPr>
        <p:spPr>
          <a:xfrm>
            <a:off x="626114" y="5582629"/>
            <a:ext cx="8300000" cy="600000"/>
          </a:xfrm>
          <a:prstGeom prst="rect">
            <a:avLst/>
          </a:prstGeom>
          <a:noFill/>
        </p:spPr>
        <p:txBody>
          <a:bodyPr wrap="square">
            <a:spAutoFit/>
          </a:bodyPr>
          <a:lstStyle/>
          <a:p>
            <a:pPr algn="ctr">
              <a:spcAft>
                <a:spcPts val="600"/>
              </a:spcAft>
            </a:pPr>
            <a:r>
              <a:rPr sz="1400" b="0" i="1" dirty="0">
                <a:solidFill>
                  <a:srgbClr val="444444"/>
                </a:solidFill>
                <a:latin typeface="Calibri"/>
              </a:rPr>
              <a:t>Rainfall falls nearly 65% from Kharif (852 mm) to Zaid (299 mm), while Zaid is also the hottest (31°C) and driest (52% humidity) season — a tough combination for crops.</a:t>
            </a:r>
          </a:p>
        </p:txBody>
      </p:sp>
      <p:pic>
        <p:nvPicPr>
          <p:cNvPr id="9" name="Picture 8">
            <a:extLst>
              <a:ext uri="{FF2B5EF4-FFF2-40B4-BE49-F238E27FC236}">
                <a16:creationId xmlns:a16="http://schemas.microsoft.com/office/drawing/2014/main" id="{63667391-1D0F-E068-E05B-C8EBECC70ADC}"/>
              </a:ext>
            </a:extLst>
          </p:cNvPr>
          <p:cNvPicPr>
            <a:picLocks noChangeAspect="1"/>
          </p:cNvPicPr>
          <p:nvPr/>
        </p:nvPicPr>
        <p:blipFill>
          <a:blip r:embed="rId3"/>
          <a:stretch>
            <a:fillRect/>
          </a:stretch>
        </p:blipFill>
        <p:spPr>
          <a:xfrm>
            <a:off x="491004" y="1803781"/>
            <a:ext cx="11209991" cy="354646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225400"/>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a:extLst>
              <a:ext uri="{FF2B5EF4-FFF2-40B4-BE49-F238E27FC236}">
                <a16:creationId xmlns:a16="http://schemas.microsoft.com/office/drawing/2014/main" id="{48962320-83D8-F602-BD00-2B69050467A3}"/>
              </a:ext>
            </a:extLst>
          </p:cNvPr>
          <p:cNvSpPr>
            <a:spLocks noGrp="1"/>
          </p:cNvSpPr>
          <p:nvPr>
            <p:ph type="body" sz="quarter" idx="12"/>
          </p:nvPr>
        </p:nvSpPr>
        <p:spPr>
          <a:xfrm>
            <a:off x="731326" y="1130572"/>
            <a:ext cx="6957929" cy="477838"/>
          </a:xfrm>
        </p:spPr>
        <p:txBody>
          <a:bodyPr>
            <a:normAutofit/>
          </a:bodyPr>
          <a:lstStyle/>
          <a:p>
            <a:pPr marL="0" indent="0">
              <a:buNone/>
            </a:pPr>
            <a:r>
              <a:rPr lang="en-US" b="1" dirty="0"/>
              <a:t>Water Use Matters More Than Rainfall Alone</a:t>
            </a:r>
            <a:endParaRPr lang="en-IN" dirty="0"/>
          </a:p>
        </p:txBody>
      </p:sp>
      <p:sp>
        <p:nvSpPr>
          <p:cNvPr id="6" name="TextBox 5">
            <a:extLst>
              <a:ext uri="{FF2B5EF4-FFF2-40B4-BE49-F238E27FC236}">
                <a16:creationId xmlns:a16="http://schemas.microsoft.com/office/drawing/2014/main" id="{85D6D71F-5E09-1EFD-CBCE-C5B172AD22FA}"/>
              </a:ext>
            </a:extLst>
          </p:cNvPr>
          <p:cNvSpPr txBox="1"/>
          <p:nvPr/>
        </p:nvSpPr>
        <p:spPr>
          <a:xfrm>
            <a:off x="675957" y="6032600"/>
            <a:ext cx="8300000" cy="600000"/>
          </a:xfrm>
          <a:prstGeom prst="rect">
            <a:avLst/>
          </a:prstGeom>
          <a:noFill/>
        </p:spPr>
        <p:txBody>
          <a:bodyPr wrap="square">
            <a:spAutoFit/>
          </a:bodyPr>
          <a:lstStyle/>
          <a:p>
            <a:pPr algn="ctr">
              <a:spcAft>
                <a:spcPts val="600"/>
              </a:spcAft>
            </a:pPr>
            <a:r>
              <a:rPr sz="1400" b="0" i="1" dirty="0">
                <a:solidFill>
                  <a:srgbClr val="444444"/>
                </a:solidFill>
                <a:latin typeface="Calibri"/>
              </a:rPr>
              <a:t>Among environmental factors, water usage has the strongest link to yield (correlation 0.39) — much stronger than rainfall, temperature or humidity, showing irrigation management is key.</a:t>
            </a:r>
          </a:p>
        </p:txBody>
      </p:sp>
      <p:pic>
        <p:nvPicPr>
          <p:cNvPr id="11" name="Picture 10">
            <a:extLst>
              <a:ext uri="{FF2B5EF4-FFF2-40B4-BE49-F238E27FC236}">
                <a16:creationId xmlns:a16="http://schemas.microsoft.com/office/drawing/2014/main" id="{94B0CF55-57A6-2DD8-B467-8E4F126E8F7D}"/>
              </a:ext>
            </a:extLst>
          </p:cNvPr>
          <p:cNvPicPr>
            <a:picLocks noChangeAspect="1"/>
          </p:cNvPicPr>
          <p:nvPr/>
        </p:nvPicPr>
        <p:blipFill>
          <a:blip r:embed="rId3"/>
          <a:stretch>
            <a:fillRect/>
          </a:stretch>
        </p:blipFill>
        <p:spPr>
          <a:xfrm>
            <a:off x="884227" y="1812852"/>
            <a:ext cx="5997835" cy="374546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1000"/>
                                        <p:tgtEl>
                                          <p:spTgt spid="2">
                                            <p:txEl>
                                              <p:pRg st="0" end="0"/>
                                            </p:txEl>
                                          </p:spTgt>
                                        </p:tgtEl>
                                      </p:cBhvr>
                                    </p:animEffect>
                                    <p:anim calcmode="lin" valueType="num">
                                      <p:cBhvr>
                                        <p:cTn id="22"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248161"/>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079158"/>
            <a:ext cx="6596268" cy="477520"/>
          </a:xfrm>
        </p:spPr>
        <p:txBody>
          <a:bodyPr>
            <a:normAutofit/>
          </a:bodyPr>
          <a:lstStyle/>
          <a:p>
            <a:pPr marL="0" indent="0">
              <a:buNone/>
            </a:pPr>
            <a:r>
              <a:rPr lang="en-US" b="1" dirty="0"/>
              <a:t>Seasonal Patterns Differ From State to State</a:t>
            </a:r>
            <a:endParaRPr lang="en-IN" dirty="0"/>
          </a:p>
          <a:p>
            <a:pPr marL="0" indent="0">
              <a:buNone/>
            </a:pPr>
            <a:endParaRPr lang="en-IN" sz="1600" dirty="0"/>
          </a:p>
        </p:txBody>
      </p:sp>
      <p:sp>
        <p:nvSpPr>
          <p:cNvPr id="3" name="TextBox 2">
            <a:extLst>
              <a:ext uri="{FF2B5EF4-FFF2-40B4-BE49-F238E27FC236}">
                <a16:creationId xmlns:a16="http://schemas.microsoft.com/office/drawing/2014/main" id="{5A1D6056-0718-F784-9D06-0B30FC4B61EC}"/>
              </a:ext>
            </a:extLst>
          </p:cNvPr>
          <p:cNvSpPr txBox="1"/>
          <p:nvPr/>
        </p:nvSpPr>
        <p:spPr>
          <a:xfrm>
            <a:off x="807164" y="6171920"/>
            <a:ext cx="8300000" cy="600000"/>
          </a:xfrm>
          <a:prstGeom prst="rect">
            <a:avLst/>
          </a:prstGeom>
          <a:noFill/>
        </p:spPr>
        <p:txBody>
          <a:bodyPr wrap="square">
            <a:spAutoFit/>
          </a:bodyPr>
          <a:lstStyle/>
          <a:p>
            <a:pPr algn="ctr">
              <a:spcAft>
                <a:spcPts val="600"/>
              </a:spcAft>
            </a:pPr>
            <a:r>
              <a:rPr sz="1400" b="0" i="1" dirty="0">
                <a:solidFill>
                  <a:srgbClr val="444444"/>
                </a:solidFill>
                <a:latin typeface="Calibri"/>
              </a:rPr>
              <a:t>Punjab bucks the overall trend — its best season is Rabi (8.61 t/ha), not Kharif. Maharashtra sees the steepest seasonal drop, falling to 2.27 t/ha in Zaid.</a:t>
            </a:r>
          </a:p>
        </p:txBody>
      </p:sp>
      <p:pic>
        <p:nvPicPr>
          <p:cNvPr id="9" name="Picture 8">
            <a:extLst>
              <a:ext uri="{FF2B5EF4-FFF2-40B4-BE49-F238E27FC236}">
                <a16:creationId xmlns:a16="http://schemas.microsoft.com/office/drawing/2014/main" id="{19AB1460-5FFF-BAE7-7080-EB850A43A012}"/>
              </a:ext>
            </a:extLst>
          </p:cNvPr>
          <p:cNvPicPr>
            <a:picLocks noChangeAspect="1"/>
          </p:cNvPicPr>
          <p:nvPr/>
        </p:nvPicPr>
        <p:blipFill>
          <a:blip r:embed="rId3"/>
          <a:stretch>
            <a:fillRect/>
          </a:stretch>
        </p:blipFill>
        <p:spPr>
          <a:xfrm>
            <a:off x="950905" y="1507195"/>
            <a:ext cx="5979283" cy="427995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3"/>
            <a:ext cx="5649783" cy="477520"/>
          </a:xfrm>
        </p:spPr>
        <p:txBody>
          <a:bodyPr/>
          <a:lstStyle/>
          <a:p>
            <a:pPr marL="0" indent="0">
              <a:buNone/>
            </a:pPr>
            <a:r>
              <a:rPr lang="en-IN" b="1" dirty="0"/>
              <a:t>Crop Distribution Across Seasons</a:t>
            </a:r>
          </a:p>
          <a:p>
            <a:pPr marL="0" indent="0">
              <a:buNone/>
            </a:pPr>
            <a:endParaRPr lang="en-IN" dirty="0"/>
          </a:p>
        </p:txBody>
      </p:sp>
      <p:pic>
        <p:nvPicPr>
          <p:cNvPr id="3" name="Picture 2">
            <a:extLst>
              <a:ext uri="{FF2B5EF4-FFF2-40B4-BE49-F238E27FC236}">
                <a16:creationId xmlns:a16="http://schemas.microsoft.com/office/drawing/2014/main" id="{0B6BCEF4-28CE-8441-07AD-A26AB3BC38B4}"/>
              </a:ext>
            </a:extLst>
          </p:cNvPr>
          <p:cNvPicPr>
            <a:picLocks noChangeAspect="1"/>
          </p:cNvPicPr>
          <p:nvPr/>
        </p:nvPicPr>
        <p:blipFill>
          <a:blip r:embed="rId3"/>
          <a:stretch>
            <a:fillRect/>
          </a:stretch>
        </p:blipFill>
        <p:spPr>
          <a:xfrm>
            <a:off x="807163" y="2329758"/>
            <a:ext cx="8823514" cy="375385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B8C727BE-7581-5668-7D02-52847E1DAC2E}"/>
              </a:ext>
            </a:extLst>
          </p:cNvPr>
          <p:cNvSpPr txBox="1"/>
          <p:nvPr/>
        </p:nvSpPr>
        <p:spPr>
          <a:xfrm>
            <a:off x="561473" y="2146253"/>
            <a:ext cx="10462083" cy="2298065"/>
          </a:xfrm>
          <a:prstGeom prst="rect">
            <a:avLst/>
          </a:prstGeom>
          <a:noFill/>
        </p:spPr>
        <p:txBody>
          <a:bodyPr wrap="square">
            <a:spAutoFit/>
          </a:bodyPr>
          <a:lstStyle/>
          <a:p>
            <a:pPr algn="l">
              <a:spcAft>
                <a:spcPts val="1600"/>
              </a:spcAft>
            </a:pPr>
            <a:r>
              <a:rPr sz="1800" b="0" i="0" dirty="0">
                <a:solidFill>
                  <a:srgbClr val="222222"/>
                </a:solidFill>
                <a:latin typeface="Calibri"/>
              </a:rPr>
              <a:t>Build a season-wise yield and profit prediction model using regression or machine learning</a:t>
            </a:r>
          </a:p>
          <a:p>
            <a:pPr algn="l">
              <a:spcAft>
                <a:spcPts val="1600"/>
              </a:spcAft>
            </a:pPr>
            <a:r>
              <a:rPr sz="1800" b="0" i="0" dirty="0">
                <a:solidFill>
                  <a:srgbClr val="222222"/>
                </a:solidFill>
                <a:latin typeface="Calibri"/>
              </a:rPr>
              <a:t>Create an interactive dashboard (Power BI / </a:t>
            </a:r>
            <a:r>
              <a:rPr sz="1800" b="0" i="0" dirty="0" err="1">
                <a:solidFill>
                  <a:srgbClr val="222222"/>
                </a:solidFill>
                <a:latin typeface="Calibri"/>
              </a:rPr>
              <a:t>Streamlit</a:t>
            </a:r>
            <a:r>
              <a:rPr sz="1800" b="0" i="0" dirty="0">
                <a:solidFill>
                  <a:srgbClr val="222222"/>
                </a:solidFill>
                <a:latin typeface="Calibri"/>
              </a:rPr>
              <a:t>) for real-time seasonal advisories</a:t>
            </a:r>
          </a:p>
          <a:p>
            <a:pPr algn="l">
              <a:spcAft>
                <a:spcPts val="1600"/>
              </a:spcAft>
            </a:pPr>
            <a:r>
              <a:rPr sz="1800" b="0" i="0" dirty="0">
                <a:solidFill>
                  <a:srgbClr val="222222"/>
                </a:solidFill>
                <a:latin typeface="Calibri"/>
              </a:rPr>
              <a:t>Bring in weather-forecast data to move from descriptive analysis to predictive planning</a:t>
            </a:r>
          </a:p>
          <a:p>
            <a:pPr algn="l">
              <a:spcAft>
                <a:spcPts val="1600"/>
              </a:spcAft>
            </a:pPr>
            <a:r>
              <a:rPr sz="1800" b="0" i="0" dirty="0">
                <a:solidFill>
                  <a:srgbClr val="222222"/>
                </a:solidFill>
                <a:latin typeface="Calibri"/>
              </a:rPr>
              <a:t>Investigate why Zaid season shows losses despite lower pest/disease risk — a deeper cost study</a:t>
            </a:r>
          </a:p>
          <a:p>
            <a:pPr algn="l">
              <a:spcAft>
                <a:spcPts val="1600"/>
              </a:spcAft>
            </a:pPr>
            <a:r>
              <a:rPr sz="1800" b="0" i="0" dirty="0">
                <a:solidFill>
                  <a:srgbClr val="222222"/>
                </a:solidFill>
                <a:latin typeface="Calibri"/>
              </a:rPr>
              <a:t>Expand the dataset to more states and years for broader, more generalizable insights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6368576" cy="193305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520CA6E-5D1E-7AEF-E612-F74191D4E6E1}"/>
              </a:ext>
            </a:extLst>
          </p:cNvPr>
          <p:cNvSpPr txBox="1"/>
          <p:nvPr/>
        </p:nvSpPr>
        <p:spPr>
          <a:xfrm>
            <a:off x="820831" y="2718583"/>
            <a:ext cx="6368576" cy="923330"/>
          </a:xfrm>
          <a:prstGeom prst="rect">
            <a:avLst/>
          </a:prstGeom>
          <a:noFill/>
        </p:spPr>
        <p:txBody>
          <a:bodyPr wrap="square" rtlCol="0">
            <a:spAutoFit/>
          </a:bodyPr>
          <a:lstStyle/>
          <a:p>
            <a:r>
              <a:rPr lang="en-IN" dirty="0">
                <a:hlinkClick r:id="rId3"/>
              </a:rPr>
              <a:t>GitHub Link - </a:t>
            </a:r>
            <a:r>
              <a:rPr lang="en-IN" dirty="0"/>
              <a:t>https://github.com/mohdsahil00736/Seasonal-Agriculture-Performance-Analysis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F1A85FD-B6B9-FA9A-DEF9-2EB7A6BBA3DB}"/>
              </a:ext>
            </a:extLst>
          </p:cNvPr>
          <p:cNvPicPr>
            <a:picLocks noChangeAspect="1"/>
          </p:cNvPicPr>
          <p:nvPr/>
        </p:nvPicPr>
        <p:blipFill>
          <a:blip r:embed="rId3"/>
          <a:stretch>
            <a:fillRect/>
          </a:stretch>
        </p:blipFill>
        <p:spPr>
          <a:xfrm>
            <a:off x="1268771" y="1595742"/>
            <a:ext cx="6955642" cy="487617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601</TotalTime>
  <Words>626</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We analyzed 4,000 farm records spanning 8 states, 8 crops and 3 seasons — covering rainfall, soil health, resource usage, yield, cost, revenue and profit.  The workflow: clean and prepare the data (season + crop specific handling of missing rainfall, soil moisture and yield readings), add performance metrics like profit margin and cost per tonne, then compare yield, cost, profit, resource use and risk across the three seasons.  The findings are visualized through 9 charts and a summary dashboard, and turned into clear, evidence-based recommendations for seasonal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MOHAMMAD SAHIL</cp:lastModifiedBy>
  <cp:revision>98</cp:revision>
  <dcterms:created xsi:type="dcterms:W3CDTF">2021-07-11T13:13:15Z</dcterms:created>
  <dcterms:modified xsi:type="dcterms:W3CDTF">2026-09-05T10:26:07Z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